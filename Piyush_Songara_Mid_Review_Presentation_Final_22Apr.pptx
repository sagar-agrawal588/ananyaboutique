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E1B2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E1B2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641848"/>
          </a:xfrm>
          <a:prstGeom prst="rect">
            <a:avLst/>
          </a:prstGeom>
          <a:solidFill>
            <a:srgbClr val="FF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1874519"/>
            <a:ext cx="34747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5400" b="0">
                <a:solidFill>
                  <a:srgbClr val="DF9F9F"/>
                </a:solidFill>
                <a:latin typeface="Georgia"/>
              </a:rPr>
              <a:t>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3794760"/>
            <a:ext cx="34747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5200" b="0">
                <a:solidFill>
                  <a:srgbClr val="DF9F9F"/>
                </a:solidFill>
                <a:latin typeface="Georgia"/>
              </a:rPr>
              <a:t>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5349240"/>
            <a:ext cx="34747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200" b="0">
                <a:solidFill>
                  <a:srgbClr val="DF9F9F"/>
                </a:solidFill>
                <a:latin typeface="Georgia"/>
              </a:rPr>
              <a:t>BROTHERHOOD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657600"/>
            <a:ext cx="34747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000" b="0">
                <a:solidFill>
                  <a:srgbClr val="DF9F9F"/>
                </a:solidFill>
                <a:latin typeface="Georgia"/>
              </a:rPr>
              <a:t>THINK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417320"/>
            <a:ext cx="34747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600" b="0">
                <a:solidFill>
                  <a:srgbClr val="DF9F9F"/>
                </a:solidFill>
                <a:latin typeface="Georgia"/>
              </a:rPr>
              <a:t>TEACHING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960120"/>
            <a:ext cx="34747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DF9F9F"/>
                </a:solidFill>
                <a:latin typeface="Georgia"/>
              </a:rPr>
              <a:t>INNOVATION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5989320"/>
            <a:ext cx="34747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800" b="0">
                <a:solidFill>
                  <a:srgbClr val="DF9F9F"/>
                </a:solidFill>
                <a:latin typeface="Georgia"/>
              </a:rPr>
              <a:t>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206240"/>
            <a:ext cx="34747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DF9F9F"/>
                </a:solidFill>
                <a:latin typeface="Georgia"/>
              </a:rPr>
              <a:t>KNOWLEDGE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34747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0">
                <a:solidFill>
                  <a:srgbClr val="DF9F9F"/>
                </a:solidFill>
                <a:latin typeface="Georgia"/>
              </a:rPr>
              <a:t>PROGRAM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645920"/>
            <a:ext cx="34747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0">
                <a:solidFill>
                  <a:srgbClr val="DF9F9F"/>
                </a:solidFill>
                <a:latin typeface="Georgia"/>
              </a:rPr>
              <a:t>LIFE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28016"/>
            <a:ext cx="3474720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ptos"/>
              </a:rPr>
              <a:t>DEPARTMENT 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530352"/>
            <a:ext cx="2926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Computer Science</a:t>
            </a:r>
          </a:p>
        </p:txBody>
      </p:sp>
      <p:pic>
        <p:nvPicPr>
          <p:cNvPr id="17" name="Picture 16" descr="J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109728"/>
            <a:ext cx="2157046" cy="841248"/>
          </a:xfrm>
          <a:prstGeom prst="rect">
            <a:avLst/>
          </a:prstGeom>
        </p:spPr>
      </p:pic>
      <p:pic>
        <p:nvPicPr>
          <p:cNvPr id="18" name="Picture 17" descr="J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3520440"/>
            <a:ext cx="1758462" cy="685800"/>
          </a:xfrm>
          <a:prstGeom prst="rect">
            <a:avLst/>
          </a:prstGeom>
        </p:spPr>
      </p:pic>
      <p:pic>
        <p:nvPicPr>
          <p:cNvPr id="19" name="Picture 18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3566160"/>
            <a:ext cx="568064" cy="566928"/>
          </a:xfrm>
          <a:prstGeom prst="rect">
            <a:avLst/>
          </a:prstGeom>
        </p:spPr>
      </p:pic>
      <p:pic>
        <p:nvPicPr>
          <p:cNvPr id="20" name="Picture 19" descr="jecrc-found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5989320"/>
            <a:ext cx="1110424" cy="53035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611880" y="1353312"/>
            <a:ext cx="47548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8A8A8A"/>
                </a:solidFill>
                <a:latin typeface="Georgia"/>
              </a:rPr>
              <a:t>Mid Review Internship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1920240"/>
            <a:ext cx="21031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4E3D2E"/>
                </a:solidFill>
                <a:latin typeface="Georgia"/>
              </a:rPr>
              <a:t>Presented by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176272"/>
            <a:ext cx="2743200" cy="34747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Georgia"/>
              </a:rPr>
              <a:t>Piyush Songara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2487168"/>
            <a:ext cx="3474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Georgia"/>
              </a:rPr>
              <a:t>Under the guidance 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" y="4590288"/>
            <a:ext cx="4754880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Georgia"/>
              </a:rPr>
              <a:t>Faculty Internship guide:-Megha Garg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590288"/>
            <a:ext cx="3931920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Georgia"/>
              </a:rPr>
              <a:t>Industrial guide:-Balveer Bajiya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5559552"/>
            <a:ext cx="9875520" cy="658368"/>
          </a:xfrm>
          <a:prstGeom prst="rect">
            <a:avLst/>
          </a:prstGeom>
          <a:solidFill>
            <a:srgbClr val="B7755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6419088"/>
            <a:ext cx="2286000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ptos"/>
              </a:rPr>
              <a:t>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E1B2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E1B2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641848"/>
          </a:xfrm>
          <a:prstGeom prst="rect">
            <a:avLst/>
          </a:prstGeom>
          <a:solidFill>
            <a:srgbClr val="FFF5F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1874519"/>
            <a:ext cx="34747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5400" b="0">
                <a:solidFill>
                  <a:srgbClr val="DF9F9F"/>
                </a:solidFill>
                <a:latin typeface="Georgia"/>
              </a:rPr>
              <a:t>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3794760"/>
            <a:ext cx="34747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5200" b="0">
                <a:solidFill>
                  <a:srgbClr val="DF9F9F"/>
                </a:solidFill>
                <a:latin typeface="Georgia"/>
              </a:rPr>
              <a:t>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5349240"/>
            <a:ext cx="34747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200" b="0">
                <a:solidFill>
                  <a:srgbClr val="DF9F9F"/>
                </a:solidFill>
                <a:latin typeface="Georgia"/>
              </a:rPr>
              <a:t>BROTHERHOOD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657600"/>
            <a:ext cx="34747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000" b="0">
                <a:solidFill>
                  <a:srgbClr val="DF9F9F"/>
                </a:solidFill>
                <a:latin typeface="Georgia"/>
              </a:rPr>
              <a:t>THINK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417320"/>
            <a:ext cx="34747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600" b="0">
                <a:solidFill>
                  <a:srgbClr val="DF9F9F"/>
                </a:solidFill>
                <a:latin typeface="Georgia"/>
              </a:rPr>
              <a:t>TEACHING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960120"/>
            <a:ext cx="34747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DF9F9F"/>
                </a:solidFill>
                <a:latin typeface="Georgia"/>
              </a:rPr>
              <a:t>INNOVATION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5989320"/>
            <a:ext cx="34747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800" b="0">
                <a:solidFill>
                  <a:srgbClr val="DF9F9F"/>
                </a:solidFill>
                <a:latin typeface="Georgia"/>
              </a:rPr>
              <a:t>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206240"/>
            <a:ext cx="34747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200" b="0">
                <a:solidFill>
                  <a:srgbClr val="DF9F9F"/>
                </a:solidFill>
                <a:latin typeface="Georgia"/>
              </a:rPr>
              <a:t>KNOWLEDGE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34747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0">
                <a:solidFill>
                  <a:srgbClr val="DF9F9F"/>
                </a:solidFill>
                <a:latin typeface="Georgia"/>
              </a:rPr>
              <a:t>PROGRAM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645920"/>
            <a:ext cx="34747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0">
                <a:solidFill>
                  <a:srgbClr val="DF9F9F"/>
                </a:solidFill>
                <a:latin typeface="Georgia"/>
              </a:rPr>
              <a:t>LIFE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01168"/>
            <a:ext cx="256032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Contents</a:t>
            </a:r>
          </a:p>
        </p:txBody>
      </p:sp>
      <p:pic>
        <p:nvPicPr>
          <p:cNvPr id="16" name="Picture 15" descr="J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109728"/>
            <a:ext cx="2157046" cy="841248"/>
          </a:xfrm>
          <a:prstGeom prst="rect">
            <a:avLst/>
          </a:prstGeom>
        </p:spPr>
      </p:pic>
      <p:pic>
        <p:nvPicPr>
          <p:cNvPr id="17" name="Picture 16" descr="jecrc-foun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989320"/>
            <a:ext cx="1110424" cy="53035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56032" y="1417320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Georgia"/>
              </a:rPr>
              <a:t>Company / Project 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" y="1965960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Georgia"/>
              </a:rPr>
              <a:t>Internship 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" y="2514600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Georgia"/>
              </a:rPr>
              <a:t>Project Introduction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" y="3063240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Georgia"/>
              </a:rPr>
              <a:t>Work Evidence and 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" y="3611880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Georgia"/>
              </a:rPr>
              <a:t>Roles and Responsibilities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" y="4160520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Georgia"/>
              </a:rPr>
              <a:t>Tools Used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" y="4709159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Georgia"/>
              </a:rPr>
              <a:t>Methodology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" y="5257799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Georgia"/>
              </a:rPr>
              <a:t>Outcomes and 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" y="5806439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Georgia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11480"/>
            <a:ext cx="11292840" cy="566928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E2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384048"/>
            <a:ext cx="384048" cy="36576"/>
          </a:xfrm>
          <a:prstGeom prst="rect">
            <a:avLst/>
          </a:prstGeom>
          <a:solidFill>
            <a:srgbClr val="B6934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78440" y="384048"/>
            <a:ext cx="1051560" cy="292608"/>
          </a:xfrm>
          <a:prstGeom prst="roundRect">
            <a:avLst/>
          </a:prstGeom>
          <a:solidFill>
            <a:srgbClr val="FCF7E8"/>
          </a:solidFill>
          <a:ln w="15240">
            <a:solidFill>
              <a:srgbClr val="E2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6A6054"/>
                </a:solidFill>
                <a:latin typeface="Aptos"/>
              </a:rPr>
              <a:t>01 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"/>
            <a:ext cx="4206240" cy="5669280"/>
          </a:xfrm>
          <a:prstGeom prst="rect">
            <a:avLst/>
          </a:prstGeom>
          <a:solidFill>
            <a:srgbClr val="F8EDCA"/>
          </a:solidFill>
          <a:ln>
            <a:solidFill>
              <a:srgbClr val="EEE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51560"/>
            <a:ext cx="3246120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57800" y="868680"/>
            <a:ext cx="5257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>
                <a:solidFill>
                  <a:srgbClr val="6A6054"/>
                </a:solidFill>
                <a:latin typeface="Georgia"/>
              </a:rPr>
              <a:t>Frontend Developer Internship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325880"/>
            <a:ext cx="5394960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0">
                <a:solidFill>
                  <a:srgbClr val="4E3D2E"/>
                </a:solidFill>
                <a:latin typeface="Georgia"/>
              </a:rPr>
              <a:t>BogEcom - Buy</a:t>
            </a:r>
            <a:br/>
            <a:r>
              <a:rPr sz="3400" b="0">
                <a:solidFill>
                  <a:srgbClr val="4E3D2E"/>
                </a:solidFill>
                <a:latin typeface="Georgia"/>
              </a:rPr>
              <a:t>One 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3246120"/>
            <a:ext cx="539496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4E3D2E"/>
                </a:solidFill>
                <a:latin typeface="Aptos"/>
              </a:rPr>
              <a:t>Piyush Songara - B.Tech Computer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3685032"/>
            <a:ext cx="54864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6A6054"/>
                </a:solidFill>
                <a:latin typeface="Aptos"/>
              </a:rPr>
              <a:t>Internship Guide: Faculty &amp; Industry Mentor - Duration: January - April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4251960"/>
            <a:ext cx="1417320" cy="310896"/>
          </a:xfrm>
          <a:prstGeom prst="roundRect">
            <a:avLst/>
          </a:prstGeom>
          <a:solidFill>
            <a:srgbClr val="FCF7E8"/>
          </a:solidFill>
          <a:ln w="15240">
            <a:solidFill>
              <a:srgbClr val="B69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>
                <a:solidFill>
                  <a:srgbClr val="B69342"/>
                </a:solidFill>
                <a:latin typeface="Aptos"/>
              </a:rPr>
              <a:t>INTERNSHIP REPORT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30568" y="4251960"/>
            <a:ext cx="1417320" cy="310896"/>
          </a:xfrm>
          <a:prstGeom prst="roundRect">
            <a:avLst/>
          </a:prstGeom>
          <a:solidFill>
            <a:srgbClr val="FCF7E8"/>
          </a:solidFill>
          <a:ln w="15240">
            <a:solidFill>
              <a:srgbClr val="B69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>
                <a:solidFill>
                  <a:srgbClr val="B69342"/>
                </a:solidFill>
                <a:latin typeface="Aptos"/>
              </a:rPr>
              <a:t>FRONTEND DEVELOPMENT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03336" y="4251960"/>
            <a:ext cx="1417320" cy="310896"/>
          </a:xfrm>
          <a:prstGeom prst="roundRect">
            <a:avLst/>
          </a:prstGeom>
          <a:solidFill>
            <a:srgbClr val="FCF7E8"/>
          </a:solidFill>
          <a:ln w="15240">
            <a:solidFill>
              <a:srgbClr val="B69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>
                <a:solidFill>
                  <a:srgbClr val="B69342"/>
                </a:solidFill>
                <a:latin typeface="Aptos"/>
              </a:rPr>
              <a:t>E-COMMERCE PLATFORM</a:t>
            </a:r>
          </a:p>
        </p:txBody>
      </p:sp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658368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11155680" cy="562356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E2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384048"/>
            <a:ext cx="384048" cy="36576"/>
          </a:xfrm>
          <a:prstGeom prst="rect">
            <a:avLst/>
          </a:prstGeom>
          <a:solidFill>
            <a:srgbClr val="B6934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78440" y="384048"/>
            <a:ext cx="1051560" cy="292608"/>
          </a:xfrm>
          <a:prstGeom prst="roundRect">
            <a:avLst/>
          </a:prstGeom>
          <a:solidFill>
            <a:srgbClr val="FCF7E8"/>
          </a:solidFill>
          <a:ln w="15240">
            <a:solidFill>
              <a:srgbClr val="E2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6A6054"/>
                </a:solidFill>
                <a:latin typeface="Aptos"/>
              </a:rPr>
              <a:t>02 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11480"/>
            <a:ext cx="4206240" cy="5623560"/>
          </a:xfrm>
          <a:prstGeom prst="rect">
            <a:avLst/>
          </a:prstGeom>
          <a:solidFill>
            <a:srgbClr val="F8EDCA"/>
          </a:solidFill>
          <a:ln>
            <a:solidFill>
              <a:srgbClr val="EEE2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mber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17320"/>
            <a:ext cx="338328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57800" y="685800"/>
            <a:ext cx="51206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0">
                <a:solidFill>
                  <a:srgbClr val="4E3D2E"/>
                </a:solidFill>
                <a:latin typeface="Georgia"/>
              </a:rPr>
              <a:t>Abstract &amp;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417320"/>
            <a:ext cx="5349240" cy="960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6A6054"/>
                </a:solidFill>
                <a:latin typeface="Aptos"/>
              </a:rPr>
              <a:t>This presentation documents a structured internship on BogEcom (Buy One Gram), a live ecommerce platform. My role covered end-to-end UI implementation, state management, production fixes, API-linked behavior, and delivery support across client and admin portals.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2331720"/>
            <a:ext cx="5212080" cy="822960"/>
          </a:xfrm>
          <a:prstGeom prst="roundRect">
            <a:avLst/>
          </a:prstGeom>
          <a:solidFill>
            <a:srgbClr val="F9EFD2"/>
          </a:solidFill>
          <a:ln w="15240">
            <a:solidFill>
              <a:srgbClr val="E4D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13248" y="2478024"/>
            <a:ext cx="256032" cy="256032"/>
          </a:xfrm>
          <a:prstGeom prst="ellipse">
            <a:avLst/>
          </a:prstGeom>
          <a:solidFill>
            <a:srgbClr val="B6934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2441448"/>
            <a:ext cx="1828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4E3D2E"/>
                </a:solidFill>
                <a:latin typeface="Georgia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2715768"/>
            <a:ext cx="47548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A6054"/>
                </a:solidFill>
                <a:latin typeface="Aptos"/>
              </a:rPr>
              <a:t>Frontend Developer Intern with full product exposure from day 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3264408"/>
            <a:ext cx="5212080" cy="822960"/>
          </a:xfrm>
          <a:prstGeom prst="roundRect">
            <a:avLst/>
          </a:prstGeom>
          <a:solidFill>
            <a:srgbClr val="F9EFD2"/>
          </a:solidFill>
          <a:ln w="15240">
            <a:solidFill>
              <a:srgbClr val="E4D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13248" y="3410712"/>
            <a:ext cx="256032" cy="256032"/>
          </a:xfrm>
          <a:prstGeom prst="ellipse">
            <a:avLst/>
          </a:prstGeom>
          <a:solidFill>
            <a:srgbClr val="B6934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3374136"/>
            <a:ext cx="1828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4E3D2E"/>
                </a:solidFill>
                <a:latin typeface="Georgia"/>
              </a:rPr>
              <a:t>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3648456"/>
            <a:ext cx="47548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A6054"/>
                </a:solidFill>
                <a:latin typeface="Aptos"/>
              </a:rPr>
              <a:t>Dual-portal ecommerce system with client storefront, admin dashboard, and connected APIs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4197096"/>
            <a:ext cx="5212080" cy="822960"/>
          </a:xfrm>
          <a:prstGeom prst="roundRect">
            <a:avLst/>
          </a:prstGeom>
          <a:solidFill>
            <a:srgbClr val="F9EFD2"/>
          </a:solidFill>
          <a:ln w="15240">
            <a:solidFill>
              <a:srgbClr val="E4D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13248" y="4343400"/>
            <a:ext cx="256032" cy="256032"/>
          </a:xfrm>
          <a:prstGeom prst="ellipse">
            <a:avLst/>
          </a:prstGeom>
          <a:solidFill>
            <a:srgbClr val="B6934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4306824"/>
            <a:ext cx="1828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4E3D2E"/>
                </a:solidFill>
                <a:latin typeface="Georgia"/>
              </a:rPr>
              <a:t>Key Contributions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4581144"/>
            <a:ext cx="47548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A6054"/>
                </a:solidFill>
                <a:latin typeface="Aptos"/>
              </a:rPr>
              <a:t>UI components, checkout flows, state management, API integration, bug fixes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57800" y="5129783"/>
            <a:ext cx="5212080" cy="822960"/>
          </a:xfrm>
          <a:prstGeom prst="roundRect">
            <a:avLst/>
          </a:prstGeom>
          <a:solidFill>
            <a:srgbClr val="F9EFD2"/>
          </a:solidFill>
          <a:ln w="15240">
            <a:solidFill>
              <a:srgbClr val="E4D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413248" y="5276088"/>
            <a:ext cx="256032" cy="256032"/>
          </a:xfrm>
          <a:prstGeom prst="ellipse">
            <a:avLst/>
          </a:prstGeom>
          <a:solidFill>
            <a:srgbClr val="B6934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5239512"/>
            <a:ext cx="1828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4E3D2E"/>
                </a:solidFill>
                <a:latin typeface="Georgia"/>
              </a:rPr>
              <a:t>Duration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513831"/>
            <a:ext cx="47548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A6054"/>
                </a:solidFill>
                <a:latin typeface="Aptos"/>
              </a:rPr>
              <a:t>January 2026 - April 2026, including latest updates up to April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8" y="384048"/>
            <a:ext cx="384048" cy="36576"/>
          </a:xfrm>
          <a:prstGeom prst="rect">
            <a:avLst/>
          </a:prstGeom>
          <a:solidFill>
            <a:srgbClr val="B6934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78440" y="384048"/>
            <a:ext cx="1051560" cy="292608"/>
          </a:xfrm>
          <a:prstGeom prst="roundRect">
            <a:avLst/>
          </a:prstGeom>
          <a:solidFill>
            <a:srgbClr val="FCF7E8"/>
          </a:solidFill>
          <a:ln w="15240">
            <a:solidFill>
              <a:srgbClr val="E2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6A6054"/>
                </a:solidFill>
                <a:latin typeface="Aptos"/>
              </a:rPr>
              <a:t>03 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54864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4E3D2E"/>
                </a:solidFill>
                <a:latin typeface="Georgia"/>
              </a:rPr>
              <a:t>Objective &amp; Platform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24128"/>
            <a:ext cx="6858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6A6054"/>
                </a:solidFill>
                <a:latin typeface="Aptos"/>
              </a:rPr>
              <a:t>A real product internship focused on delivering production-ready ecommerce experiences across client and admin portals.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794760" cy="3520440"/>
          </a:xfrm>
          <a:prstGeom prst="roundRect">
            <a:avLst/>
          </a:prstGeom>
          <a:solidFill>
            <a:srgbClr val="443E3F"/>
          </a:solidFill>
          <a:ln w="15240">
            <a:solidFill>
              <a:srgbClr val="443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32004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Georgia"/>
              </a:rPr>
              <a:t>Internship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04288"/>
            <a:ext cx="3154680" cy="2560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Bridge academic knowledge with real-world software engineering by contributing to a live, production-grade ecommerce product.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Understand frontend architecture at scale.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Deliver features under real product constraints.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Collaborate using Git, APIs, and shared code patterns.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645920"/>
            <a:ext cx="6217920" cy="352044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E2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1874519"/>
            <a:ext cx="512064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>
                <a:solidFill>
                  <a:srgbClr val="4E3D2E"/>
                </a:solidFill>
                <a:latin typeface="Georgia"/>
              </a:rPr>
              <a:t>About BogEcom (Buy One Gram)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2267712"/>
            <a:ext cx="5394960" cy="2651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6A6054"/>
                </a:solidFill>
                <a:latin typeface="Aptos"/>
              </a:rPr>
              <a:t>BogEcom is a dual-portal ecommerce platform serving both customers and internal administrators.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6A6054"/>
                </a:solidFill>
                <a:latin typeface="Aptos"/>
              </a:rPr>
              <a:t>Client Portal: product browsing, cart, checkout, order tracking.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6A6054"/>
                </a:solidFill>
                <a:latin typeface="Aptos"/>
              </a:rPr>
              <a:t>Admin Portal: inventory, pricing, orders, user management.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6A6054"/>
                </a:solidFill>
                <a:latin typeface="Aptos"/>
              </a:rPr>
              <a:t>Backend: RESTful APIs feeding both portals and linked business workflows.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8" y="384048"/>
            <a:ext cx="384048" cy="36576"/>
          </a:xfrm>
          <a:prstGeom prst="rect">
            <a:avLst/>
          </a:prstGeom>
          <a:solidFill>
            <a:srgbClr val="B6934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78440" y="384048"/>
            <a:ext cx="1051560" cy="292608"/>
          </a:xfrm>
          <a:prstGeom prst="roundRect">
            <a:avLst/>
          </a:prstGeom>
          <a:solidFill>
            <a:srgbClr val="FCF7E8"/>
          </a:solidFill>
          <a:ln w="15240">
            <a:solidFill>
              <a:srgbClr val="E2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6A6054"/>
                </a:solidFill>
                <a:latin typeface="Aptos"/>
              </a:rPr>
              <a:t>04 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11064240" cy="214884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E2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4114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4E3D2E"/>
                </a:solidFill>
                <a:latin typeface="Georgia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07008"/>
            <a:ext cx="5760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6A6054"/>
                </a:solidFill>
                <a:latin typeface="Aptos"/>
              </a:rPr>
              <a:t>The project used a modern JavaScript ecosystem focused on frontend performance, developer velocity, and live ecommerce reliability.</a:t>
            </a:r>
          </a:p>
        </p:txBody>
      </p:sp>
      <p:sp>
        <p:nvSpPr>
          <p:cNvPr id="7" name="Oval 6"/>
          <p:cNvSpPr/>
          <p:nvPr/>
        </p:nvSpPr>
        <p:spPr>
          <a:xfrm>
            <a:off x="795528" y="1755648"/>
            <a:ext cx="256032" cy="256032"/>
          </a:xfrm>
          <a:prstGeom prst="ellipse">
            <a:avLst/>
          </a:prstGeom>
          <a:solidFill>
            <a:srgbClr val="B6934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26060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4E3D2E"/>
                </a:solidFill>
                <a:latin typeface="Georgia"/>
              </a:rPr>
              <a:t>Next.js &amp; React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260604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0">
                <a:solidFill>
                  <a:srgbClr val="6A6054"/>
                </a:solidFill>
                <a:latin typeface="Aptos"/>
              </a:rPr>
              <a:t>Server-rendered and client-side UI architecture for storefront and admin experiences</a:t>
            </a:r>
          </a:p>
        </p:txBody>
      </p:sp>
      <p:sp>
        <p:nvSpPr>
          <p:cNvPr id="10" name="Oval 9"/>
          <p:cNvSpPr/>
          <p:nvPr/>
        </p:nvSpPr>
        <p:spPr>
          <a:xfrm>
            <a:off x="3813048" y="1755648"/>
            <a:ext cx="256032" cy="256032"/>
          </a:xfrm>
          <a:prstGeom prst="ellipse">
            <a:avLst/>
          </a:prstGeom>
          <a:solidFill>
            <a:srgbClr val="B6934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783080"/>
            <a:ext cx="26060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4E3D2E"/>
                </a:solidFill>
                <a:latin typeface="Georgia"/>
              </a:rPr>
              <a:t>JavaScript (ES6+)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103120"/>
            <a:ext cx="260604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0">
                <a:solidFill>
                  <a:srgbClr val="6A6054"/>
                </a:solidFill>
                <a:latin typeface="Aptos"/>
              </a:rPr>
              <a:t>Async logic, reusable components, array methods, event handling, and app flow control</a:t>
            </a:r>
          </a:p>
        </p:txBody>
      </p:sp>
      <p:sp>
        <p:nvSpPr>
          <p:cNvPr id="13" name="Oval 12"/>
          <p:cNvSpPr/>
          <p:nvPr/>
        </p:nvSpPr>
        <p:spPr>
          <a:xfrm>
            <a:off x="6784848" y="1755648"/>
            <a:ext cx="256032" cy="256032"/>
          </a:xfrm>
          <a:prstGeom prst="ellipse">
            <a:avLst/>
          </a:prstGeom>
          <a:solidFill>
            <a:srgbClr val="B6934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783080"/>
            <a:ext cx="2057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4E3D2E"/>
                </a:solidFill>
                <a:latin typeface="Georgia"/>
              </a:rPr>
              <a:t>Context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103120"/>
            <a:ext cx="20574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0">
                <a:solidFill>
                  <a:srgbClr val="6A6054"/>
                </a:solidFill>
                <a:latin typeface="Aptos"/>
              </a:rPr>
              <a:t>Shared global state for cart, settings, wishlist, theme, and related frontend behaviors</a:t>
            </a:r>
          </a:p>
        </p:txBody>
      </p:sp>
      <p:sp>
        <p:nvSpPr>
          <p:cNvPr id="16" name="Oval 15"/>
          <p:cNvSpPr/>
          <p:nvPr/>
        </p:nvSpPr>
        <p:spPr>
          <a:xfrm>
            <a:off x="9116568" y="1755648"/>
            <a:ext cx="256032" cy="256032"/>
          </a:xfrm>
          <a:prstGeom prst="ellipse">
            <a:avLst/>
          </a:prstGeom>
          <a:solidFill>
            <a:srgbClr val="B6934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783080"/>
            <a:ext cx="20116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4E3D2E"/>
                </a:solidFill>
                <a:latin typeface="Georgia"/>
              </a:rPr>
              <a:t>Git &amp; APIs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103120"/>
            <a:ext cx="20116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0">
                <a:solidFill>
                  <a:srgbClr val="6A6054"/>
                </a:solidFill>
                <a:latin typeface="Aptos"/>
              </a:rPr>
              <a:t>Version control, collaboration, RESTful integration, payment flow support, and production fixes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834640"/>
            <a:ext cx="11064240" cy="292608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E2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127248"/>
            <a:ext cx="484632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4E3D2E"/>
                </a:solidFill>
                <a:latin typeface="Georgia"/>
              </a:rPr>
              <a:t>Project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547872"/>
            <a:ext cx="7498079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6A6054"/>
                </a:solidFill>
                <a:latin typeface="Aptos"/>
              </a:rPr>
              <a:t>BogEcom follows a connected product architecture where frontend portals communicate with API and business logic layers serving both customers and administrators.</a:t>
            </a:r>
          </a:p>
        </p:txBody>
      </p:sp>
      <p:sp>
        <p:nvSpPr>
          <p:cNvPr id="22" name="Oval 21"/>
          <p:cNvSpPr/>
          <p:nvPr/>
        </p:nvSpPr>
        <p:spPr>
          <a:xfrm>
            <a:off x="4846320" y="3977639"/>
            <a:ext cx="1920240" cy="1371600"/>
          </a:xfrm>
          <a:prstGeom prst="ellipse">
            <a:avLst/>
          </a:prstGeom>
          <a:solidFill>
            <a:srgbClr val="98781C"/>
          </a:solidFill>
          <a:ln>
            <a:solidFill>
              <a:srgbClr val="987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FFFFFF"/>
                </a:solidFill>
                <a:latin typeface="Georgia"/>
              </a:rPr>
              <a:t>BogEcom</a:t>
            </a:r>
            <a:br/>
            <a:r>
              <a:rPr sz="1600">
                <a:solidFill>
                  <a:srgbClr val="FFFFFF"/>
                </a:solidFill>
                <a:latin typeface="Georgia"/>
              </a:rPr>
              <a:t>Core Platform</a:t>
            </a:r>
          </a:p>
        </p:txBody>
      </p:sp>
      <p:sp>
        <p:nvSpPr>
          <p:cNvPr id="23" name="Oval 22"/>
          <p:cNvSpPr/>
          <p:nvPr/>
        </p:nvSpPr>
        <p:spPr>
          <a:xfrm>
            <a:off x="4343400" y="3200399"/>
            <a:ext cx="2926080" cy="2340864"/>
          </a:xfrm>
          <a:prstGeom prst="ellipse">
            <a:avLst/>
          </a:prstGeom>
          <a:noFill/>
          <a:ln w="13970">
            <a:solidFill>
              <a:srgbClr val="E3C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886200" y="2743199"/>
            <a:ext cx="3840480" cy="3072384"/>
          </a:xfrm>
          <a:prstGeom prst="ellipse">
            <a:avLst/>
          </a:prstGeom>
          <a:noFill/>
          <a:ln w="13970">
            <a:solidFill>
              <a:srgbClr val="E3C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429000" y="2285999"/>
            <a:ext cx="4754880" cy="3803904"/>
          </a:xfrm>
          <a:prstGeom prst="ellipse">
            <a:avLst/>
          </a:prstGeom>
          <a:noFill/>
          <a:ln w="13970">
            <a:solidFill>
              <a:srgbClr val="E3C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480560"/>
            <a:ext cx="1828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4E3D2E"/>
                </a:solidFill>
                <a:latin typeface="Georgia"/>
              </a:rPr>
              <a:t>Client Portal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800600"/>
            <a:ext cx="2103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20" b="0">
                <a:solidFill>
                  <a:srgbClr val="6A6054"/>
                </a:solidFill>
                <a:latin typeface="Aptos"/>
              </a:rPr>
              <a:t>Next.js storefront: product pages, cart, checkout, account, membership, orders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480560"/>
            <a:ext cx="1828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4E3D2E"/>
                </a:solidFill>
                <a:latin typeface="Georgia"/>
              </a:rPr>
              <a:t>Admin Portal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800600"/>
            <a:ext cx="2011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20" b="0">
                <a:solidFill>
                  <a:srgbClr val="6A6054"/>
                </a:solidFill>
                <a:latin typeface="Aptos"/>
              </a:rPr>
              <a:t>Dashboard, orders, settings, combos, analytics, shipping, support workflows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8" y="384048"/>
            <a:ext cx="384048" cy="36576"/>
          </a:xfrm>
          <a:prstGeom prst="rect">
            <a:avLst/>
          </a:prstGeom>
          <a:solidFill>
            <a:srgbClr val="B6934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78440" y="384048"/>
            <a:ext cx="1051560" cy="292608"/>
          </a:xfrm>
          <a:prstGeom prst="roundRect">
            <a:avLst/>
          </a:prstGeom>
          <a:solidFill>
            <a:srgbClr val="FCF7E8"/>
          </a:solidFill>
          <a:ln w="15240">
            <a:solidFill>
              <a:srgbClr val="E2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6A6054"/>
                </a:solidFill>
                <a:latin typeface="Aptos"/>
              </a:rPr>
              <a:t>05  Timeline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57200"/>
            <a:ext cx="11201400" cy="205740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E2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49377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4E3D2E"/>
                </a:solidFill>
                <a:latin typeface="Georgia"/>
              </a:rPr>
              <a:t>Monthly Progress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65836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20" b="0">
                <a:solidFill>
                  <a:srgbClr val="6A6054"/>
                </a:solidFill>
                <a:latin typeface="Aptos"/>
              </a:rPr>
              <a:t>Growth followed a deliberate ramp-up from onboarding and exploration to independent feature ownership by the final sprint.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1828800"/>
            <a:ext cx="8961120" cy="18288"/>
          </a:xfrm>
          <a:prstGeom prst="rect">
            <a:avLst/>
          </a:prstGeom>
          <a:ln>
            <a:solidFill>
              <a:srgbClr val="DBC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1353312"/>
            <a:ext cx="1828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4E3D2E"/>
                </a:solidFill>
                <a:latin typeface="Georgia"/>
              </a:rPr>
              <a:t>January -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627632"/>
            <a:ext cx="21945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60" b="0">
                <a:solidFill>
                  <a:srgbClr val="6A6054"/>
                </a:solidFill>
                <a:latin typeface="Aptos"/>
              </a:rPr>
              <a:t>Onboarding, codebase exploration, environment setup, first UI contributions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56231" y="1691640"/>
            <a:ext cx="256032" cy="256032"/>
          </a:xfrm>
          <a:prstGeom prst="roundRect">
            <a:avLst/>
          </a:prstGeom>
          <a:solidFill>
            <a:srgbClr val="F8EDCA"/>
          </a:solidFill>
          <a:ln w="15240">
            <a:solidFill>
              <a:srgbClr val="DCC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4E3D2E"/>
                </a:solidFill>
                <a:latin typeface="Georg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53312"/>
            <a:ext cx="1828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4E3D2E"/>
                </a:solidFill>
                <a:latin typeface="Georgia"/>
              </a:rPr>
              <a:t>February - Building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627632"/>
            <a:ext cx="21945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60" b="0">
                <a:solidFill>
                  <a:srgbClr val="6A6054"/>
                </a:solidFill>
                <a:latin typeface="Aptos"/>
              </a:rPr>
              <a:t>Page development, Context API integration, cart and product listing 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691640"/>
            <a:ext cx="256032" cy="256032"/>
          </a:xfrm>
          <a:prstGeom prst="roundRect">
            <a:avLst/>
          </a:prstGeom>
          <a:solidFill>
            <a:srgbClr val="F8EDCA"/>
          </a:solidFill>
          <a:ln w="15240">
            <a:solidFill>
              <a:srgbClr val="DCC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4E3D2E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353312"/>
            <a:ext cx="1828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4E3D2E"/>
                </a:solidFill>
                <a:latin typeface="Georgia"/>
              </a:rPr>
              <a:t>March - Deepening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627632"/>
            <a:ext cx="21945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60" b="0">
                <a:solidFill>
                  <a:srgbClr val="6A6054"/>
                </a:solidFill>
                <a:latin typeface="Aptos"/>
              </a:rPr>
              <a:t>Checkout flow, admin panel work, API integration, complex pricing logic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31152" y="1691640"/>
            <a:ext cx="256032" cy="256032"/>
          </a:xfrm>
          <a:prstGeom prst="roundRect">
            <a:avLst/>
          </a:prstGeom>
          <a:solidFill>
            <a:srgbClr val="F8EDCA"/>
          </a:solidFill>
          <a:ln w="15240">
            <a:solidFill>
              <a:srgbClr val="DCC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4E3D2E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353312"/>
            <a:ext cx="1828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4E3D2E"/>
                </a:solidFill>
                <a:latin typeface="Georgia"/>
              </a:rPr>
              <a:t>April - Ownership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27632"/>
            <a:ext cx="219456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60" b="0">
                <a:solidFill>
                  <a:srgbClr val="6A6054"/>
                </a:solidFill>
                <a:latin typeface="Aptos"/>
              </a:rPr>
              <a:t>End-to-end feature delivery, regression testing, bug fixes, deployment support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91472" y="1691640"/>
            <a:ext cx="256032" cy="256032"/>
          </a:xfrm>
          <a:prstGeom prst="roundRect">
            <a:avLst/>
          </a:prstGeom>
          <a:solidFill>
            <a:srgbClr val="F8EDCA"/>
          </a:solidFill>
          <a:ln w="15240">
            <a:solidFill>
              <a:srgbClr val="DCC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4E3D2E"/>
                </a:solidFill>
                <a:latin typeface="Georgia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788920"/>
            <a:ext cx="11201400" cy="292608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E2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090672"/>
            <a:ext cx="56692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4E3D2E"/>
                </a:solidFill>
                <a:latin typeface="Georgia"/>
              </a:rPr>
              <a:t>Key Responsibilities &amp; Contributions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657600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4E3D2E"/>
                </a:solidFill>
                <a:latin typeface="Georgia"/>
              </a:rPr>
              <a:t>Core Responsibilities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977639"/>
            <a:ext cx="4709160" cy="1737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00" b="0">
                <a:solidFill>
                  <a:srgbClr val="6A6054"/>
                </a:solidFill>
                <a:latin typeface="Aptos"/>
              </a:rPr>
              <a:t>-&gt; Page Development - product listing, detail, cart, checkout pages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00" b="0">
                <a:solidFill>
                  <a:srgbClr val="6A6054"/>
                </a:solidFill>
                <a:latin typeface="Aptos"/>
              </a:rPr>
              <a:t>-&gt; UI Components - reusable blocks across both portals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00" b="0">
                <a:solidFill>
                  <a:srgbClr val="6A6054"/>
                </a:solidFill>
                <a:latin typeface="Aptos"/>
              </a:rPr>
              <a:t>-&gt; State Management - cart, settings, wishlist, theme behavior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00" b="0">
                <a:solidFill>
                  <a:srgbClr val="6A6054"/>
                </a:solidFill>
                <a:latin typeface="Aptos"/>
              </a:rPr>
              <a:t>-&gt; Admin Features - inventory, order management, analytics support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6A6054"/>
                </a:solidFill>
                <a:latin typeface="Aptos"/>
              </a:rPr>
              <a:t>-&gt; API Integration - client endpoints and linked backend behavior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3657600"/>
            <a:ext cx="4480560" cy="1783080"/>
          </a:xfrm>
          <a:prstGeom prst="roundRect">
            <a:avLst/>
          </a:prstGeom>
          <a:solidFill>
            <a:srgbClr val="443E3F"/>
          </a:solidFill>
          <a:ln w="15240">
            <a:solidFill>
              <a:srgbClr val="443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822191"/>
            <a:ext cx="3657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Major Contribution Areas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160520"/>
            <a:ext cx="3794760" cy="1325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30" b="0">
                <a:solidFill>
                  <a:srgbClr val="FFFFFF"/>
                </a:solidFill>
                <a:latin typeface="Aptos"/>
              </a:rPr>
              <a:t>Storefront: customer-facing product discovery and purchase journey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30" b="0">
                <a:solidFill>
                  <a:srgbClr val="FFFFFF"/>
                </a:solidFill>
                <a:latin typeface="Aptos"/>
              </a:rPr>
              <a:t>UI Components: modular reusable blocks for consistency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30" b="0">
                <a:solidFill>
                  <a:srgbClr val="FFFFFF"/>
                </a:solidFill>
                <a:latin typeface="Aptos"/>
              </a:rPr>
              <a:t>State Management: shared patterns powering cart and settings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30" b="0">
                <a:solidFill>
                  <a:srgbClr val="FFFFFF"/>
                </a:solidFill>
                <a:latin typeface="Aptos"/>
              </a:rPr>
              <a:t>Admin Portal: internal tools for catalog and order operations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30" b="0">
                <a:solidFill>
                  <a:srgbClr val="FFFFFF"/>
                </a:solidFill>
                <a:latin typeface="Aptos"/>
              </a:rPr>
              <a:t>Checkout Flow: end-to-end purchase experience with 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8" y="384048"/>
            <a:ext cx="384048" cy="36576"/>
          </a:xfrm>
          <a:prstGeom prst="rect">
            <a:avLst/>
          </a:prstGeom>
          <a:solidFill>
            <a:srgbClr val="B6934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78440" y="384048"/>
            <a:ext cx="1051560" cy="292608"/>
          </a:xfrm>
          <a:prstGeom prst="roundRect">
            <a:avLst/>
          </a:prstGeom>
          <a:solidFill>
            <a:srgbClr val="FCF7E8"/>
          </a:solidFill>
          <a:ln w="15240">
            <a:solidFill>
              <a:srgbClr val="E2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6A6054"/>
                </a:solidFill>
                <a:latin typeface="Aptos"/>
              </a:rPr>
              <a:t>06 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64008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4E3D2E"/>
                </a:solidFill>
                <a:latin typeface="Georgia"/>
              </a:rPr>
              <a:t>Testing, Validation &amp;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67665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20" b="0">
                <a:solidFill>
                  <a:srgbClr val="6A6054"/>
                </a:solidFill>
                <a:latin typeface="Aptos"/>
              </a:rPr>
              <a:t>Quality assurance and deployment readiness were treated as integral to every sprint, not as an afterthought.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3383280" cy="173736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E2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325880"/>
            <a:ext cx="54864" cy="1737360"/>
          </a:xfrm>
          <a:prstGeom prst="rect">
            <a:avLst/>
          </a:prstGeom>
          <a:solidFill>
            <a:srgbClr val="B6934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6968" y="1444752"/>
            <a:ext cx="256032" cy="256032"/>
          </a:xfrm>
          <a:prstGeom prst="ellipse">
            <a:avLst/>
          </a:prstGeom>
          <a:solidFill>
            <a:srgbClr val="B6934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29260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4E3D2E"/>
                </a:solidFill>
                <a:latin typeface="Georgia"/>
              </a:rPr>
              <a:t>Manual &amp; Flow-Based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29260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40" b="0">
                <a:solidFill>
                  <a:srgbClr val="6A6054"/>
                </a:solidFill>
                <a:latin typeface="Aptos"/>
              </a:rPr>
              <a:t>Executed structured manual test cases across product browsing, cart operations, checkout completion, and admin workflows.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25880"/>
            <a:ext cx="3383280" cy="173736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E2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25880"/>
            <a:ext cx="54864" cy="1737360"/>
          </a:xfrm>
          <a:prstGeom prst="rect">
            <a:avLst/>
          </a:prstGeom>
          <a:solidFill>
            <a:srgbClr val="B6934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53128" y="1444752"/>
            <a:ext cx="256032" cy="256032"/>
          </a:xfrm>
          <a:prstGeom prst="ellipse">
            <a:avLst/>
          </a:prstGeom>
          <a:solidFill>
            <a:srgbClr val="B6934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444752"/>
            <a:ext cx="29260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4E3D2E"/>
                </a:solidFill>
                <a:latin typeface="Georgia"/>
              </a:rPr>
              <a:t>Regression Awareness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874519"/>
            <a:ext cx="29260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40" b="0">
                <a:solidFill>
                  <a:srgbClr val="6A6054"/>
                </a:solidFill>
                <a:latin typeface="Aptos"/>
              </a:rPr>
              <a:t>Maintained awareness of regression risk when modifying shared components and linked business logic.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1325880"/>
            <a:ext cx="3383280" cy="173736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E2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9560" y="1325880"/>
            <a:ext cx="54864" cy="1737360"/>
          </a:xfrm>
          <a:prstGeom prst="rect">
            <a:avLst/>
          </a:prstGeom>
          <a:solidFill>
            <a:srgbClr val="B6934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19288" y="1444752"/>
            <a:ext cx="256032" cy="256032"/>
          </a:xfrm>
          <a:prstGeom prst="ellipse">
            <a:avLst/>
          </a:prstGeom>
          <a:solidFill>
            <a:srgbClr val="B6934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1444752"/>
            <a:ext cx="29260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4E3D2E"/>
                </a:solidFill>
                <a:latin typeface="Georgia"/>
              </a:rPr>
              <a:t>Deployment &amp; Stability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1874519"/>
            <a:ext cx="29260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40" b="0">
                <a:solidFill>
                  <a:srgbClr val="6A6054"/>
                </a:solidFill>
                <a:latin typeface="Aptos"/>
              </a:rPr>
              <a:t>Contributed to release readiness by fixing bugs, resolving edge cases, and iterating quickly on reported issues.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520440"/>
            <a:ext cx="10927080" cy="224028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E2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767328"/>
            <a:ext cx="50292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4E3D2E"/>
                </a:solidFill>
                <a:latin typeface="Georgia"/>
              </a:rPr>
              <a:t>Work Evidence &amp; Metrics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160520"/>
            <a:ext cx="5486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20" b="0">
                <a:solidFill>
                  <a:srgbClr val="6A6054"/>
                </a:solidFill>
                <a:latin typeface="Aptos"/>
              </a:rPr>
              <a:t>Quantifiable output across the internship reflects consistent, high-volume contribution to a live production codebase.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617720"/>
            <a:ext cx="164592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4E3D2E"/>
                </a:solidFill>
                <a:latin typeface="Georgia"/>
              </a:rPr>
              <a:t>75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965192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4E3D2E"/>
                </a:solidFill>
                <a:latin typeface="Georgia"/>
              </a:rPr>
              <a:t>Git Commits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257800"/>
            <a:ext cx="2468880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>
                <a:solidFill>
                  <a:srgbClr val="6A6054"/>
                </a:solidFill>
                <a:latin typeface="Aptos"/>
              </a:rPr>
              <a:t>Consistent, incremental commits across the internship duration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617720"/>
            <a:ext cx="164592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4E3D2E"/>
                </a:solidFill>
                <a:latin typeface="Georgia"/>
              </a:rPr>
              <a:t>351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965192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4E3D2E"/>
                </a:solidFill>
                <a:latin typeface="Georgia"/>
              </a:rPr>
              <a:t>Files Modified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257800"/>
            <a:ext cx="2468880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>
                <a:solidFill>
                  <a:srgbClr val="6A6054"/>
                </a:solidFill>
                <a:latin typeface="Aptos"/>
              </a:rPr>
              <a:t>Spanning pages, components, utilities, server logic, and styles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5394960"/>
            <a:ext cx="164592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4E3D2E"/>
                </a:solidFill>
                <a:latin typeface="Georgia"/>
              </a:rPr>
              <a:t>75K+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742432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4E3D2E"/>
                </a:solidFill>
                <a:latin typeface="Georgia"/>
              </a:rPr>
              <a:t>Lines Added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6035040"/>
            <a:ext cx="2468880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>
                <a:solidFill>
                  <a:srgbClr val="6A6054"/>
                </a:solidFill>
                <a:latin typeface="Aptos"/>
              </a:rPr>
              <a:t>Reflecting substantial feature delivery and iterative UI construction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5394960"/>
            <a:ext cx="164592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4E3D2E"/>
                </a:solidFill>
                <a:latin typeface="Georgia"/>
              </a:rPr>
              <a:t>4+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5742432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4E3D2E"/>
                </a:solidFill>
                <a:latin typeface="Georgia"/>
              </a:rPr>
              <a:t>Months Active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6035040"/>
            <a:ext cx="2468880" cy="38404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>
                <a:solidFill>
                  <a:srgbClr val="6A6054"/>
                </a:solidFill>
                <a:latin typeface="Aptos"/>
              </a:rPr>
              <a:t>January through April with ongoing latest updates included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6309360"/>
            <a:ext cx="10698480" cy="384048"/>
          </a:xfrm>
          <a:prstGeom prst="roundRect">
            <a:avLst/>
          </a:prstGeom>
          <a:solidFill>
            <a:srgbClr val="D5E5FC"/>
          </a:solidFill>
          <a:ln w="15240">
            <a:solidFill>
              <a:srgbClr val="99B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>
                <a:solidFill>
                  <a:srgbClr val="34568B"/>
                </a:solidFill>
                <a:latin typeface="Aptos"/>
              </a:rPr>
              <a:t>These metrics represent direct contributions to a live ecommerce platform. The report has been updated with latest work through April 21, 2026.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8" y="384048"/>
            <a:ext cx="384048" cy="36576"/>
          </a:xfrm>
          <a:prstGeom prst="rect">
            <a:avLst/>
          </a:prstGeom>
          <a:solidFill>
            <a:srgbClr val="B6934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78440" y="384048"/>
            <a:ext cx="1051560" cy="292608"/>
          </a:xfrm>
          <a:prstGeom prst="roundRect">
            <a:avLst/>
          </a:prstGeom>
          <a:solidFill>
            <a:srgbClr val="FCF7E8"/>
          </a:solidFill>
          <a:ln w="15240">
            <a:solidFill>
              <a:srgbClr val="E2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6A6054"/>
                </a:solidFill>
                <a:latin typeface="Aptos"/>
              </a:rPr>
              <a:t>07  Live Screens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38912"/>
            <a:ext cx="11201400" cy="571500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E2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54864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4E3D2E"/>
                </a:solidFill>
                <a:latin typeface="Georgia"/>
              </a:rPr>
              <a:t>Live Implementation Screens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15568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20" b="0">
                <a:solidFill>
                  <a:srgbClr val="6A6054"/>
                </a:solidFill>
                <a:latin typeface="Aptos"/>
              </a:rPr>
              <a:t>Representative live-site screens showing how implemented work appears in the deployed product experience.</a:t>
            </a:r>
          </a:p>
        </p:txBody>
      </p:sp>
      <p:pic>
        <p:nvPicPr>
          <p:cNvPr id="7" name="Picture 6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45920"/>
            <a:ext cx="4983480" cy="3246120"/>
          </a:xfrm>
          <a:prstGeom prst="rect">
            <a:avLst/>
          </a:prstGeom>
        </p:spPr>
      </p:pic>
      <p:pic>
        <p:nvPicPr>
          <p:cNvPr id="8" name="Picture 7" descr="produ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645920"/>
            <a:ext cx="4800600" cy="3246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5074920"/>
            <a:ext cx="47548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4E3D2E"/>
                </a:solidFill>
                <a:latin typeface="Georgia"/>
              </a:rPr>
              <a:t>Home Page on Live 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5074920"/>
            <a:ext cx="45720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4E3D2E"/>
                </a:solidFill>
                <a:latin typeface="Georgia"/>
              </a:rPr>
              <a:t>Products Listing on Live Site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8" y="384048"/>
            <a:ext cx="384048" cy="36576"/>
          </a:xfrm>
          <a:prstGeom prst="rect">
            <a:avLst/>
          </a:prstGeom>
          <a:solidFill>
            <a:srgbClr val="B6934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78440" y="384048"/>
            <a:ext cx="1051560" cy="292608"/>
          </a:xfrm>
          <a:prstGeom prst="roundRect">
            <a:avLst/>
          </a:prstGeom>
          <a:solidFill>
            <a:srgbClr val="FCF7E8"/>
          </a:solidFill>
          <a:ln w="15240">
            <a:solidFill>
              <a:srgbClr val="E2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6A6054"/>
                </a:solidFill>
                <a:latin typeface="Aptos"/>
              </a:rPr>
              <a:t>07  Live Screens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38912"/>
            <a:ext cx="11201400" cy="571500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E2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54864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4E3D2E"/>
                </a:solidFill>
                <a:latin typeface="Georgia"/>
              </a:rPr>
              <a:t>Live Implementation Screens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15568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20" b="0">
                <a:solidFill>
                  <a:srgbClr val="6A6054"/>
                </a:solidFill>
                <a:latin typeface="Aptos"/>
              </a:rPr>
              <a:t>Representative live-site screens showing how implemented work appears in the deployed product experience.</a:t>
            </a:r>
          </a:p>
        </p:txBody>
      </p:sp>
      <p:pic>
        <p:nvPicPr>
          <p:cNvPr id="7" name="Picture 6" descr="produc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45920"/>
            <a:ext cx="4983480" cy="3246120"/>
          </a:xfrm>
          <a:prstGeom prst="rect">
            <a:avLst/>
          </a:prstGeom>
        </p:spPr>
      </p:pic>
      <p:pic>
        <p:nvPicPr>
          <p:cNvPr id="8" name="Picture 7" descr="members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645920"/>
            <a:ext cx="4800600" cy="3246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5074920"/>
            <a:ext cx="47548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4E3D2E"/>
                </a:solidFill>
                <a:latin typeface="Georgia"/>
              </a:rPr>
              <a:t>Product Detail Page on Live 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5074920"/>
            <a:ext cx="45720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4E3D2E"/>
                </a:solidFill>
                <a:latin typeface="Georgia"/>
              </a:rPr>
              <a:t>Membership Page on Live Site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8" y="384048"/>
            <a:ext cx="384048" cy="36576"/>
          </a:xfrm>
          <a:prstGeom prst="rect">
            <a:avLst/>
          </a:prstGeom>
          <a:solidFill>
            <a:srgbClr val="B6934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78440" y="384048"/>
            <a:ext cx="1051560" cy="292608"/>
          </a:xfrm>
          <a:prstGeom prst="roundRect">
            <a:avLst/>
          </a:prstGeom>
          <a:solidFill>
            <a:srgbClr val="FCF7E8"/>
          </a:solidFill>
          <a:ln w="15240">
            <a:solidFill>
              <a:srgbClr val="E2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>
                <a:solidFill>
                  <a:srgbClr val="6A6054"/>
                </a:solidFill>
                <a:latin typeface="Aptos"/>
              </a:rPr>
              <a:t>09 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64008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0">
                <a:solidFill>
                  <a:srgbClr val="4E3D2E"/>
                </a:solidFill>
                <a:latin typeface="Georgia"/>
              </a:rPr>
              <a:t>Challenges, Learning &amp;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4754880" cy="434340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E2D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527048"/>
            <a:ext cx="256032" cy="256032"/>
          </a:xfrm>
          <a:prstGeom prst="ellipse">
            <a:avLst/>
          </a:prstGeom>
          <a:solidFill>
            <a:srgbClr val="B6934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25603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>
                <a:solidFill>
                  <a:srgbClr val="4E3D2E"/>
                </a:solidFill>
                <a:latin typeface="Georgia"/>
              </a:rPr>
              <a:t>Challenges Faced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01952"/>
            <a:ext cx="3977639" cy="3291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A6054"/>
                </a:solidFill>
                <a:latin typeface="Aptos"/>
              </a:rPr>
              <a:t>Codebase Complexity: navigating a large existing system with shared components and business logic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A6054"/>
                </a:solidFill>
                <a:latin typeface="Aptos"/>
              </a:rPr>
              <a:t>Pricing Logic: implementing dynamic calculations with discounts, taxes, variants, and combos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A6054"/>
                </a:solidFill>
                <a:latin typeface="Aptos"/>
              </a:rPr>
              <a:t>Regression Risk: ensuring changes in shared modules did not break connected flows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A6054"/>
                </a:solidFill>
                <a:latin typeface="Aptos"/>
              </a:rPr>
              <a:t>Multi-Portal Coordination: balancing client polish, admin behavior, and server-linked correctness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6A6054"/>
                </a:solidFill>
                <a:latin typeface="Aptos"/>
              </a:rPr>
              <a:t>Release Pressure: fixing production-impacting issues while maintaining visual consistency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234440"/>
            <a:ext cx="5212080" cy="2103120"/>
          </a:xfrm>
          <a:prstGeom prst="roundRect">
            <a:avLst/>
          </a:prstGeom>
          <a:solidFill>
            <a:srgbClr val="443E3F"/>
          </a:solidFill>
          <a:ln w="15240">
            <a:solidFill>
              <a:srgbClr val="443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61888" y="1499616"/>
            <a:ext cx="256032" cy="256032"/>
          </a:xfrm>
          <a:prstGeom prst="ellipse">
            <a:avLst/>
          </a:prstGeom>
          <a:solidFill>
            <a:srgbClr val="685D5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81328"/>
            <a:ext cx="310896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Georgia"/>
              </a:rPr>
              <a:t>Learning Outcomes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847088"/>
            <a:ext cx="438912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20" b="0">
                <a:solidFill>
                  <a:srgbClr val="FFFFFF"/>
                </a:solidFill>
                <a:latin typeface="Aptos"/>
              </a:rPr>
              <a:t>Technical: deeper expertise in React, Next.js, Context API, and API integration patterns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20" b="0">
                <a:solidFill>
                  <a:srgbClr val="FFFFFF"/>
                </a:solidFill>
                <a:latin typeface="Aptos"/>
              </a:rPr>
              <a:t>Product Thinking: understood how frontend decisions impact user experience and business outcomes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20" b="0">
                <a:solidFill>
                  <a:srgbClr val="FFFFFF"/>
                </a:solidFill>
                <a:latin typeface="Aptos"/>
              </a:rPr>
              <a:t>Collaboration: improved confidence in working safely inside an active multi-author repository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3611880"/>
            <a:ext cx="5212080" cy="1965960"/>
          </a:xfrm>
          <a:prstGeom prst="roundRect">
            <a:avLst/>
          </a:prstGeom>
          <a:solidFill>
            <a:srgbClr val="F9EFD2"/>
          </a:solidFill>
          <a:ln w="15240">
            <a:solidFill>
              <a:srgbClr val="E4D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61888" y="3858768"/>
            <a:ext cx="256032" cy="256032"/>
          </a:xfrm>
          <a:prstGeom prst="ellipse">
            <a:avLst/>
          </a:prstGeom>
          <a:solidFill>
            <a:srgbClr val="B6934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3840480"/>
            <a:ext cx="4206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>
                <a:solidFill>
                  <a:srgbClr val="4E3D2E"/>
                </a:solidFill>
                <a:latin typeface="Georgia"/>
              </a:rPr>
              <a:t>Closing Reflection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4251960"/>
            <a:ext cx="429768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6A6054"/>
                </a:solidFill>
                <a:latin typeface="Aptos"/>
              </a:rPr>
              <a:t>This internship gave me real exposure to product-scale frontend engineering. My contribution spanned UI, logic, integration, testing, and delivery support, making the experience a strong bridge between academic learning and professional software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